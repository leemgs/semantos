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42062400" cy="4572000"/>
          </a:xfrm>
          <a:prstGeom prst="roundRect">
            <a:avLst>
              <a:gd name="adj" fmla="val 4400"/>
            </a:avLst>
          </a:prstGeom>
          <a:solidFill>
            <a:srgbClr val="0F1733"/>
          </a:solidFill>
          <a:ln/>
          <a:effectLst>
            <a:outerShdw sx="100000" sy="100000" kx="0" ky="0" algn="bl" rotWithShape="0" blurRad="177800" dist="63500" dir="5400000">
              <a:srgbClr val="1E2761">
                <a:alpha val="2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7033200" y="-3200400"/>
            <a:ext cx="10972800" cy="10972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097280"/>
            <a:ext cx="2743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SemantOS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1874520" y="2880360"/>
            <a:ext cx="3474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and Explainable Kernel Tuning via Semantic Reasoning and Guardrailed LLMs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74520" y="4114800"/>
            <a:ext cx="3474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F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Geunsik Lim  ·  leemgs@gmail.com          Submitted to AAAI-27 · Main Technical Track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358080" y="1371600"/>
            <a:ext cx="3749040" cy="2743200"/>
          </a:xfrm>
          <a:prstGeom prst="roundRect">
            <a:avLst>
              <a:gd name="adj" fmla="val 6000"/>
            </a:avLst>
          </a:prstGeom>
          <a:solidFill>
            <a:srgbClr val="1620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58080" y="16002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0358080" y="2971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P95 latency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381440" y="1371600"/>
            <a:ext cx="3749040" cy="2743200"/>
          </a:xfrm>
          <a:prstGeom prst="roundRect">
            <a:avLst>
              <a:gd name="adj" fmla="val 6000"/>
            </a:avLst>
          </a:prstGeom>
          <a:solidFill>
            <a:srgbClr val="1620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0" y="16002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4381440" y="2971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anomaly rate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00" y="1371600"/>
            <a:ext cx="3749040" cy="2743200"/>
          </a:xfrm>
          <a:prstGeom prst="roundRect">
            <a:avLst>
              <a:gd name="adj" fmla="val 6000"/>
            </a:avLst>
          </a:prstGeom>
          <a:solidFill>
            <a:srgbClr val="1620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0" y="16002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85%+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8404800" y="2971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operator effort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6126480"/>
            <a:ext cx="13441680" cy="786384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5875">
            <a:solidFill>
              <a:srgbClr val="CFDAEC"/>
            </a:solidFill>
            <a:prstDash val="solid"/>
          </a:ln>
          <a:effectLst>
            <a:outerShdw sx="100000" sy="100000" kx="0" ky="0" algn="bl" rotWithShape="0" blurRad="177800" dist="63500" dir="5400000">
              <a:srgbClr val="1E2761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1600" y="635508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6355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514600" y="6309360"/>
            <a:ext cx="1161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463040" y="7680960"/>
            <a:ext cx="1234440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F2A44"/>
                </a:solidFill>
              </a:rPr>
              <a:t>Linux exposes hundreds of interdependent kernel knobs (scheduler / memory / I/O / IRQ / NUMA). Small mis-settings cause latency spikes and unstable tails.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</a:rPr>
              <a:t>Context sensitivity — best values differ per workload &amp; phase.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</a:rPr>
              <a:t>Strong inter-knob coupling — jointly tuning two scheduler knobs cuts tail latency &gt;30% (non-additive).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</a:rPr>
              <a:t>Multi-objective trade-offs — latency vs. fairness vs. throughput.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914400" y="14447520"/>
            <a:ext cx="13441680" cy="5669280"/>
          </a:xfrm>
          <a:prstGeom prst="roundRect">
            <a:avLst>
              <a:gd name="adj" fmla="val 3548"/>
            </a:avLst>
          </a:prstGeom>
          <a:solidFill>
            <a:srgbClr val="1E2761"/>
          </a:solidFill>
          <a:ln w="15875">
            <a:solidFill>
              <a:srgbClr val="CFDAEC"/>
            </a:solidFill>
            <a:prstDash val="solid"/>
          </a:ln>
          <a:effectLst>
            <a:outerShdw sx="100000" sy="100000" kx="0" ky="0" algn="bl" rotWithShape="0" blurRad="177800" dist="63500" dir="5400000">
              <a:srgbClr val="1E2761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1600" y="1467612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14676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514600" y="14630400"/>
            <a:ext cx="1161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463040" y="15910560"/>
            <a:ext cx="1234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CADCFC"/>
                </a:solidFill>
              </a:rPr>
              <a:t>Treat the kernel not as a black box but as a semantically grounded control loop: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63040" y="17282160"/>
            <a:ext cx="12344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02C39A"/>
                </a:solidFill>
              </a:rPr>
              <a:t>telemetry  →  KB + LLM reasoning  →  calibrated uncertainty  →  staged, auditable rollout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14400" y="20391120"/>
            <a:ext cx="13441680" cy="10972800"/>
          </a:xfrm>
          <a:prstGeom prst="roundRect">
            <a:avLst>
              <a:gd name="adj" fmla="val 1833"/>
            </a:avLst>
          </a:prstGeom>
          <a:solidFill>
            <a:srgbClr val="FFFFFF"/>
          </a:solidFill>
          <a:ln w="15875">
            <a:solidFill>
              <a:srgbClr val="CFDAEC"/>
            </a:solidFill>
            <a:prstDash val="solid"/>
          </a:ln>
          <a:effectLst>
            <a:outerShdw sx="100000" sy="100000" kx="0" ky="0" algn="bl" rotWithShape="0" blurRad="177800" dist="63500" dir="5400000">
              <a:srgbClr val="1E2761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371600" y="2061972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20619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2514600" y="20574000"/>
            <a:ext cx="1161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1417320" y="21854160"/>
            <a:ext cx="12435840" cy="1600200"/>
          </a:xfrm>
          <a:prstGeom prst="roundRect">
            <a:avLst>
              <a:gd name="adj" fmla="val 6857"/>
            </a:avLst>
          </a:prstGeom>
          <a:solidFill>
            <a:srgbClr val="EEF3FB"/>
          </a:solidFill>
          <a:ln w="12700">
            <a:solidFill>
              <a:srgbClr val="CFDA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1963888"/>
            <a:ext cx="1197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Telemetry Agent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1645920" y="22603968"/>
            <a:ext cx="1197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+ userspace, 5 s sampling (&lt;1% CPU)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 rot="5400000">
            <a:off x="7360920" y="23454360"/>
            <a:ext cx="548640" cy="201168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35" name="Shape 33"/>
          <p:cNvSpPr/>
          <p:nvPr/>
        </p:nvSpPr>
        <p:spPr>
          <a:xfrm>
            <a:off x="1417320" y="23701248"/>
            <a:ext cx="12435840" cy="1600200"/>
          </a:xfrm>
          <a:prstGeom prst="roundRect">
            <a:avLst>
              <a:gd name="adj" fmla="val 6857"/>
            </a:avLst>
          </a:prstGeom>
          <a:solidFill>
            <a:srgbClr val="EEF3FB"/>
          </a:solidFill>
          <a:ln w="12700">
            <a:solidFill>
              <a:srgbClr val="CFDA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0" y="23810976"/>
            <a:ext cx="1197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Knowledge Base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1645920" y="24451056"/>
            <a:ext cx="1197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typed/signed dep-graph + FAISS traces (γᵗ decay)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 rot="5400000">
            <a:off x="7360920" y="25301448"/>
            <a:ext cx="548640" cy="201168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39" name="Shape 37"/>
          <p:cNvSpPr/>
          <p:nvPr/>
        </p:nvSpPr>
        <p:spPr>
          <a:xfrm>
            <a:off x="1417320" y="25548336"/>
            <a:ext cx="12435840" cy="1600200"/>
          </a:xfrm>
          <a:prstGeom prst="roundRect">
            <a:avLst>
              <a:gd name="adj" fmla="val 6857"/>
            </a:avLst>
          </a:prstGeom>
          <a:solidFill>
            <a:srgbClr val="EEF3FB"/>
          </a:solidFill>
          <a:ln w="12700">
            <a:solidFill>
              <a:srgbClr val="CFDA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45920" y="25658064"/>
            <a:ext cx="1197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Reasoner (LLM)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1645920" y="26298144"/>
            <a:ext cx="1197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→ knob, value, rationale, uncertainty u</a:t>
            </a:r>
            <a:endParaRPr lang="en-US" sz="1550" dirty="0"/>
          </a:p>
        </p:txBody>
      </p:sp>
      <p:sp>
        <p:nvSpPr>
          <p:cNvPr id="42" name="Shape 40"/>
          <p:cNvSpPr/>
          <p:nvPr/>
        </p:nvSpPr>
        <p:spPr>
          <a:xfrm rot="5400000">
            <a:off x="7360920" y="27148536"/>
            <a:ext cx="548640" cy="201168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43" name="Shape 41"/>
          <p:cNvSpPr/>
          <p:nvPr/>
        </p:nvSpPr>
        <p:spPr>
          <a:xfrm>
            <a:off x="1417320" y="27395424"/>
            <a:ext cx="12435840" cy="1600200"/>
          </a:xfrm>
          <a:prstGeom prst="roundRect">
            <a:avLst>
              <a:gd name="adj" fmla="val 6857"/>
            </a:avLst>
          </a:prstGeom>
          <a:solidFill>
            <a:srgbClr val="EEF3FB"/>
          </a:solidFill>
          <a:ln w="12700">
            <a:solidFill>
              <a:srgbClr val="CFDA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45920" y="27505152"/>
            <a:ext cx="1197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Safety Runtime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1645920" y="28145232"/>
            <a:ext cx="1197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τ gate, canary→ramp→full, rollback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 rot="5400000">
            <a:off x="7360920" y="28995624"/>
            <a:ext cx="548640" cy="201168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47" name="Shape 45"/>
          <p:cNvSpPr/>
          <p:nvPr/>
        </p:nvSpPr>
        <p:spPr>
          <a:xfrm>
            <a:off x="1417320" y="29242512"/>
            <a:ext cx="12435840" cy="1600200"/>
          </a:xfrm>
          <a:prstGeom prst="roundRect">
            <a:avLst>
              <a:gd name="adj" fmla="val 6857"/>
            </a:avLst>
          </a:prstGeom>
          <a:solidFill>
            <a:srgbClr val="EEF3FB"/>
          </a:solidFill>
          <a:ln w="12700">
            <a:solidFill>
              <a:srgbClr val="CFDA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45920" y="29352240"/>
            <a:ext cx="1197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Operator Console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1645920" y="29992320"/>
            <a:ext cx="1197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explanations, provenance, override/rollback</a:t>
            </a:r>
            <a:endParaRPr lang="en-US" sz="1550" dirty="0"/>
          </a:p>
        </p:txBody>
      </p:sp>
      <p:sp>
        <p:nvSpPr>
          <p:cNvPr id="50" name="Shape 48"/>
          <p:cNvSpPr/>
          <p:nvPr/>
        </p:nvSpPr>
        <p:spPr>
          <a:xfrm>
            <a:off x="15224760" y="6126480"/>
            <a:ext cx="13441680" cy="9692640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15875">
            <a:solidFill>
              <a:srgbClr val="CFDAEC"/>
            </a:solidFill>
            <a:prstDash val="solid"/>
          </a:ln>
          <a:effectLst>
            <a:outerShdw sx="100000" sy="100000" kx="0" ky="0" algn="bl" rotWithShape="0" blurRad="177800" dist="63500" dir="5400000">
              <a:srgbClr val="1E2761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5681960" y="635508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2" name="Text 50"/>
          <p:cNvSpPr/>
          <p:nvPr/>
        </p:nvSpPr>
        <p:spPr>
          <a:xfrm>
            <a:off x="15681960" y="6355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16824960" y="6309360"/>
            <a:ext cx="1161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KB</a:t>
            </a:r>
            <a:endParaRPr lang="en-US" sz="3000" dirty="0"/>
          </a:p>
        </p:txBody>
      </p:sp>
      <p:sp>
        <p:nvSpPr>
          <p:cNvPr id="54" name="Shape 52"/>
          <p:cNvSpPr/>
          <p:nvPr/>
        </p:nvSpPr>
        <p:spPr>
          <a:xfrm>
            <a:off x="15773400" y="7726680"/>
            <a:ext cx="5852160" cy="1051560"/>
          </a:xfrm>
          <a:prstGeom prst="roundRect">
            <a:avLst>
              <a:gd name="adj" fmla="val 10435"/>
            </a:avLst>
          </a:prstGeom>
          <a:solidFill>
            <a:srgbClr val="02C39A"/>
          </a:solidFill>
          <a:ln/>
        </p:spPr>
      </p:sp>
      <p:sp>
        <p:nvSpPr>
          <p:cNvPr id="55" name="Text 53"/>
          <p:cNvSpPr/>
          <p:nvPr/>
        </p:nvSpPr>
        <p:spPr>
          <a:xfrm>
            <a:off x="15773400" y="772668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SYNERGIZES-WITH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21808440" y="772668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co-tune → super-additive gain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5773400" y="9326880"/>
            <a:ext cx="5852160" cy="1051560"/>
          </a:xfrm>
          <a:prstGeom prst="roundRect">
            <a:avLst>
              <a:gd name="adj" fmla="val 10435"/>
            </a:avLst>
          </a:prstGeom>
          <a:solidFill>
            <a:srgbClr val="F4A261"/>
          </a:solidFill>
          <a:ln/>
        </p:spPr>
      </p:sp>
      <p:sp>
        <p:nvSpPr>
          <p:cNvPr id="58" name="Text 56"/>
          <p:cNvSpPr/>
          <p:nvPr/>
        </p:nvSpPr>
        <p:spPr>
          <a:xfrm>
            <a:off x="15773400" y="932688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CONFLICTS-WITH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21808440" y="932688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change risks SLO regression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5773400" y="10927080"/>
            <a:ext cx="585216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/>
        </p:spPr>
      </p:sp>
      <p:sp>
        <p:nvSpPr>
          <p:cNvPr id="61" name="Text 59"/>
          <p:cNvSpPr/>
          <p:nvPr/>
        </p:nvSpPr>
        <p:spPr>
          <a:xfrm>
            <a:off x="15773400" y="1092708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DEPENDS-ON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21808440" y="1092708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range conditioned on another knob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5773400" y="12801600"/>
            <a:ext cx="12344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A44"/>
                </a:solidFill>
              </a:rPr>
              <a:t>Edges are induced offline from pairwise co-tuning sweeps and decayed online by γᵗ from deployment telemetry, so stale couplings fade. Every recommendation carries provenance to specific KB edges &amp; traces.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224760" y="16276320"/>
            <a:ext cx="13441680" cy="731520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5875">
            <a:solidFill>
              <a:srgbClr val="CFDAEC"/>
            </a:solidFill>
            <a:prstDash val="solid"/>
          </a:ln>
          <a:effectLst>
            <a:outerShdw sx="100000" sy="100000" kx="0" ky="0" algn="bl" rotWithShape="0" blurRad="177800" dist="63500" dir="5400000">
              <a:srgbClr val="1E2761">
                <a:alpha val="2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5681960" y="1650492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6" name="Text 64"/>
          <p:cNvSpPr/>
          <p:nvPr/>
        </p:nvSpPr>
        <p:spPr>
          <a:xfrm>
            <a:off x="15681960" y="16504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67" name="Text 65"/>
          <p:cNvSpPr/>
          <p:nvPr/>
        </p:nvSpPr>
        <p:spPr>
          <a:xfrm>
            <a:off x="16824960" y="16459200"/>
            <a:ext cx="1161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Runtime</a:t>
            </a:r>
            <a:endParaRPr lang="en-US" sz="3000" dirty="0"/>
          </a:p>
        </p:txBody>
      </p:sp>
      <p:sp>
        <p:nvSpPr>
          <p:cNvPr id="68" name="Shape 66"/>
          <p:cNvSpPr/>
          <p:nvPr/>
        </p:nvSpPr>
        <p:spPr>
          <a:xfrm>
            <a:off x="15773400" y="17830800"/>
            <a:ext cx="37947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9" name="Text 67"/>
          <p:cNvSpPr/>
          <p:nvPr/>
        </p:nvSpPr>
        <p:spPr>
          <a:xfrm>
            <a:off x="15773400" y="1783080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5%</a:t>
            </a:r>
            <a:endParaRPr lang="en-US" sz="1700" dirty="0"/>
          </a:p>
        </p:txBody>
      </p:sp>
      <p:sp>
        <p:nvSpPr>
          <p:cNvPr id="70" name="Shape 68"/>
          <p:cNvSpPr/>
          <p:nvPr/>
        </p:nvSpPr>
        <p:spPr>
          <a:xfrm>
            <a:off x="19623024" y="18242280"/>
            <a:ext cx="411480" cy="548640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71" name="Shape 69"/>
          <p:cNvSpPr/>
          <p:nvPr/>
        </p:nvSpPr>
        <p:spPr>
          <a:xfrm>
            <a:off x="20071080" y="17830800"/>
            <a:ext cx="37947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72" name="Text 70"/>
          <p:cNvSpPr/>
          <p:nvPr/>
        </p:nvSpPr>
        <p:spPr>
          <a:xfrm>
            <a:off x="20071080" y="1783080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25→50%</a:t>
            </a:r>
            <a:endParaRPr lang="en-US" sz="1700" dirty="0"/>
          </a:p>
        </p:txBody>
      </p:sp>
      <p:sp>
        <p:nvSpPr>
          <p:cNvPr id="73" name="Shape 71"/>
          <p:cNvSpPr/>
          <p:nvPr/>
        </p:nvSpPr>
        <p:spPr>
          <a:xfrm>
            <a:off x="23920704" y="18242280"/>
            <a:ext cx="411480" cy="548640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74" name="Shape 72"/>
          <p:cNvSpPr/>
          <p:nvPr/>
        </p:nvSpPr>
        <p:spPr>
          <a:xfrm>
            <a:off x="24368760" y="17830800"/>
            <a:ext cx="37947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75" name="Text 73"/>
          <p:cNvSpPr/>
          <p:nvPr/>
        </p:nvSpPr>
        <p:spPr>
          <a:xfrm>
            <a:off x="24368760" y="1783080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100%</a:t>
            </a:r>
            <a:endParaRPr lang="en-US" sz="1700" dirty="0"/>
          </a:p>
        </p:txBody>
      </p:sp>
      <p:sp>
        <p:nvSpPr>
          <p:cNvPr id="76" name="Text 74"/>
          <p:cNvSpPr/>
          <p:nvPr/>
        </p:nvSpPr>
        <p:spPr>
          <a:xfrm>
            <a:off x="15773400" y="19568160"/>
            <a:ext cx="12344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Conformal gate: split-conformal τ from log D_cal gives Pr[unsafe | u&lt;τ] ≤ α;  u ≥ τ → veto.</a:t>
            </a:r>
            <a:endParaRPr lang="en-US" sz="18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Cost-based τ*: minimize C(τ)=c_FN·miss + c_FP·over-veto + λ·ΔSLO. Default τ=0.55 (prec/rec ≈ 0.86/0.88).</a:t>
            </a:r>
            <a:endParaRPr lang="en-US" sz="18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ADWIN drift detection → sliding-window recalibration restores coverage.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224760" y="24048720"/>
            <a:ext cx="13441680" cy="7315200"/>
          </a:xfrm>
          <a:prstGeom prst="roundRect">
            <a:avLst>
              <a:gd name="adj" fmla="val 2750"/>
            </a:avLst>
          </a:prstGeom>
          <a:solidFill>
            <a:srgbClr val="0F1733"/>
          </a:solidFill>
          <a:ln w="15875">
            <a:solidFill>
              <a:srgbClr val="CFDAEC"/>
            </a:solidFill>
            <a:prstDash val="solid"/>
          </a:ln>
          <a:effectLst>
            <a:outerShdw sx="100000" sy="100000" kx="0" ky="0" algn="bl" rotWithShape="0" blurRad="177800" dist="63500" dir="5400000">
              <a:srgbClr val="1E2761">
                <a:alpha val="2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15681960" y="2427732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9" name="Text 77"/>
          <p:cNvSpPr/>
          <p:nvPr/>
        </p:nvSpPr>
        <p:spPr>
          <a:xfrm>
            <a:off x="15681960" y="2427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80" name="Text 78"/>
          <p:cNvSpPr/>
          <p:nvPr/>
        </p:nvSpPr>
        <p:spPr>
          <a:xfrm>
            <a:off x="16824960" y="24231600"/>
            <a:ext cx="1161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Guarantees</a:t>
            </a:r>
            <a:endParaRPr lang="en-US" sz="3000" dirty="0"/>
          </a:p>
        </p:txBody>
      </p:sp>
      <p:sp>
        <p:nvSpPr>
          <p:cNvPr id="81" name="Text 79"/>
          <p:cNvSpPr/>
          <p:nvPr/>
        </p:nvSpPr>
        <p:spPr>
          <a:xfrm>
            <a:off x="15773400" y="25511760"/>
            <a:ext cx="1234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Thm 1 — Expected-cost decomposition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15773400" y="26151840"/>
            <a:ext cx="1234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E[C] ≤ c_FN·π·α + c_FP·(1−π)·β_FP + λ·E[ΔSLO]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15773400" y="27249120"/>
            <a:ext cx="1234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Prop 1 — Recalibration coverage recovery under drift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15773400" y="27889200"/>
            <a:ext cx="1234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α′  ≤  α + 1/(m+1) + ε</a:t>
            </a:r>
            <a:endParaRPr lang="en-US" sz="2600" dirty="0"/>
          </a:p>
        </p:txBody>
      </p:sp>
      <p:sp>
        <p:nvSpPr>
          <p:cNvPr id="85" name="Text 83"/>
          <p:cNvSpPr/>
          <p:nvPr/>
        </p:nvSpPr>
        <p:spPr>
          <a:xfrm>
            <a:off x="15773400" y="28986480"/>
            <a:ext cx="12344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ADCFC"/>
                </a:solidFill>
              </a:rPr>
              <a:t>Names the three levers (α, β_FP, ΔSLO) a deployment tunes; coverage recovers to a finite-sample slack after each drift — validated in a 30-day study.</a:t>
            </a:r>
            <a:endParaRPr lang="en-US" sz="1650" dirty="0"/>
          </a:p>
        </p:txBody>
      </p:sp>
      <p:sp>
        <p:nvSpPr>
          <p:cNvPr id="86" name="Shape 84"/>
          <p:cNvSpPr/>
          <p:nvPr/>
        </p:nvSpPr>
        <p:spPr>
          <a:xfrm>
            <a:off x="29535120" y="6126480"/>
            <a:ext cx="13441680" cy="9692640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15875">
            <a:solidFill>
              <a:srgbClr val="CFDAEC"/>
            </a:solidFill>
            <a:prstDash val="solid"/>
          </a:ln>
          <a:effectLst>
            <a:outerShdw sx="100000" sy="100000" kx="0" ky="0" algn="bl" rotWithShape="0" blurRad="177800" dist="63500" dir="5400000">
              <a:srgbClr val="1E2761">
                <a:alpha val="2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29992320" y="635508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8" name="Text 86"/>
          <p:cNvSpPr/>
          <p:nvPr/>
        </p:nvSpPr>
        <p:spPr>
          <a:xfrm>
            <a:off x="29992320" y="6355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89" name="Text 87"/>
          <p:cNvSpPr/>
          <p:nvPr/>
        </p:nvSpPr>
        <p:spPr>
          <a:xfrm>
            <a:off x="31135320" y="6309360"/>
            <a:ext cx="1161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90" name="Text 88"/>
          <p:cNvSpPr/>
          <p:nvPr/>
        </p:nvSpPr>
        <p:spPr>
          <a:xfrm>
            <a:off x="30083760" y="7680960"/>
            <a:ext cx="1234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44"/>
                </a:solidFill>
              </a:rPr>
              <a:t>6 workloads × 3 server classes, 10 runs (95% CI). vs. Baseline:</a:t>
            </a:r>
            <a:endParaRPr lang="en-US" sz="1700" dirty="0"/>
          </a:p>
        </p:txBody>
      </p:sp>
      <p:sp>
        <p:nvSpPr>
          <p:cNvPr id="91" name="Shape 89"/>
          <p:cNvSpPr/>
          <p:nvPr/>
        </p:nvSpPr>
        <p:spPr>
          <a:xfrm>
            <a:off x="30083760" y="8595360"/>
            <a:ext cx="5852160" cy="2971800"/>
          </a:xfrm>
          <a:prstGeom prst="roundRect">
            <a:avLst>
              <a:gd name="adj" fmla="val 4308"/>
            </a:avLst>
          </a:prstGeom>
          <a:solidFill>
            <a:srgbClr val="EEF3FB"/>
          </a:solidFill>
          <a:ln w="12700">
            <a:solidFill>
              <a:srgbClr val="CFDAE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0083760" y="89611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4600" dirty="0"/>
          </a:p>
        </p:txBody>
      </p:sp>
      <p:sp>
        <p:nvSpPr>
          <p:cNvPr id="93" name="Text 91"/>
          <p:cNvSpPr/>
          <p:nvPr/>
        </p:nvSpPr>
        <p:spPr>
          <a:xfrm>
            <a:off x="30083760" y="104698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 ↓</a:t>
            </a:r>
            <a:endParaRPr lang="en-US" sz="1700" dirty="0"/>
          </a:p>
        </p:txBody>
      </p:sp>
      <p:sp>
        <p:nvSpPr>
          <p:cNvPr id="94" name="Shape 92"/>
          <p:cNvSpPr/>
          <p:nvPr/>
        </p:nvSpPr>
        <p:spPr>
          <a:xfrm>
            <a:off x="36347400" y="8595360"/>
            <a:ext cx="5852160" cy="2971800"/>
          </a:xfrm>
          <a:prstGeom prst="roundRect">
            <a:avLst>
              <a:gd name="adj" fmla="val 4308"/>
            </a:avLst>
          </a:prstGeom>
          <a:solidFill>
            <a:srgbClr val="EEF3FB"/>
          </a:solidFill>
          <a:ln w="12700">
            <a:solidFill>
              <a:srgbClr val="CFDAE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347400" y="89611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4600" dirty="0"/>
          </a:p>
        </p:txBody>
      </p:sp>
      <p:sp>
        <p:nvSpPr>
          <p:cNvPr id="96" name="Text 94"/>
          <p:cNvSpPr/>
          <p:nvPr/>
        </p:nvSpPr>
        <p:spPr>
          <a:xfrm>
            <a:off x="36347400" y="104698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 ↓</a:t>
            </a:r>
            <a:endParaRPr lang="en-US" sz="1700" dirty="0"/>
          </a:p>
        </p:txBody>
      </p:sp>
      <p:sp>
        <p:nvSpPr>
          <p:cNvPr id="97" name="Shape 95"/>
          <p:cNvSpPr/>
          <p:nvPr/>
        </p:nvSpPr>
        <p:spPr>
          <a:xfrm>
            <a:off x="30083760" y="11887200"/>
            <a:ext cx="5852160" cy="2971800"/>
          </a:xfrm>
          <a:prstGeom prst="roundRect">
            <a:avLst>
              <a:gd name="adj" fmla="val 4308"/>
            </a:avLst>
          </a:prstGeom>
          <a:solidFill>
            <a:srgbClr val="EEF3FB"/>
          </a:solidFill>
          <a:ln w="12700">
            <a:solidFill>
              <a:srgbClr val="CFDAE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0083760" y="122529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4600" dirty="0"/>
          </a:p>
        </p:txBody>
      </p:sp>
      <p:sp>
        <p:nvSpPr>
          <p:cNvPr id="99" name="Text 97"/>
          <p:cNvSpPr/>
          <p:nvPr/>
        </p:nvSpPr>
        <p:spPr>
          <a:xfrm>
            <a:off x="30083760" y="137617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rate ↓</a:t>
            </a:r>
            <a:endParaRPr lang="en-US" sz="1700" dirty="0"/>
          </a:p>
        </p:txBody>
      </p:sp>
      <p:sp>
        <p:nvSpPr>
          <p:cNvPr id="100" name="Shape 98"/>
          <p:cNvSpPr/>
          <p:nvPr/>
        </p:nvSpPr>
        <p:spPr>
          <a:xfrm>
            <a:off x="36347400" y="11887200"/>
            <a:ext cx="5852160" cy="2971800"/>
          </a:xfrm>
          <a:prstGeom prst="roundRect">
            <a:avLst>
              <a:gd name="adj" fmla="val 4308"/>
            </a:avLst>
          </a:prstGeom>
          <a:solidFill>
            <a:srgbClr val="EEF3FB"/>
          </a:solidFill>
          <a:ln w="12700">
            <a:solidFill>
              <a:srgbClr val="CFDAE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6347400" y="122529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85–92%</a:t>
            </a:r>
            <a:endParaRPr lang="en-US" sz="4600" dirty="0"/>
          </a:p>
        </p:txBody>
      </p:sp>
      <p:sp>
        <p:nvSpPr>
          <p:cNvPr id="102" name="Text 100"/>
          <p:cNvSpPr/>
          <p:nvPr/>
        </p:nvSpPr>
        <p:spPr>
          <a:xfrm>
            <a:off x="36347400" y="137617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effort ↓</a:t>
            </a:r>
            <a:endParaRPr lang="en-US" sz="1700" dirty="0"/>
          </a:p>
        </p:txBody>
      </p:sp>
      <p:sp>
        <p:nvSpPr>
          <p:cNvPr id="103" name="Shape 101"/>
          <p:cNvSpPr/>
          <p:nvPr/>
        </p:nvSpPr>
        <p:spPr>
          <a:xfrm>
            <a:off x="29535120" y="16276320"/>
            <a:ext cx="13441680" cy="731520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5875">
            <a:solidFill>
              <a:srgbClr val="CFDAEC"/>
            </a:solidFill>
            <a:prstDash val="solid"/>
          </a:ln>
          <a:effectLst>
            <a:outerShdw sx="100000" sy="100000" kx="0" ky="0" algn="bl" rotWithShape="0" blurRad="177800" dist="63500" dir="5400000">
              <a:srgbClr val="1E2761">
                <a:alpha val="20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29992320" y="1650492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5" name="Text 103"/>
          <p:cNvSpPr/>
          <p:nvPr/>
        </p:nvSpPr>
        <p:spPr>
          <a:xfrm>
            <a:off x="29992320" y="16504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06" name="Text 104"/>
          <p:cNvSpPr/>
          <p:nvPr/>
        </p:nvSpPr>
        <p:spPr>
          <a:xfrm>
            <a:off x="31135320" y="16459200"/>
            <a:ext cx="1161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&amp; Pareto</a:t>
            </a:r>
            <a:endParaRPr lang="en-US" sz="3000" dirty="0"/>
          </a:p>
        </p:txBody>
      </p:sp>
      <p:sp>
        <p:nvSpPr>
          <p:cNvPr id="107" name="Text 105"/>
          <p:cNvSpPr/>
          <p:nvPr/>
        </p:nvSpPr>
        <p:spPr>
          <a:xfrm>
            <a:off x="30083760" y="17830800"/>
            <a:ext cx="12344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761"/>
                </a:solidFill>
              </a:rPr>
              <a:t>Anomaly rate by variant (stationary):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1F2A44"/>
                </a:solidFill>
              </a:rPr>
              <a:t>Full 2.4%   ·   w/o Dep-Graph 4.1%   ·   w/o RAG 3.6%   ·   w/o Safety 4.9%   ·   KB-only 7.1%</a:t>
            </a:r>
            <a:endParaRPr lang="en-US" sz="17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44"/>
                </a:solidFill>
              </a:rPr>
              <a:t>Graph + RAG drive performance; Safety Runtime drives reliability — the combination is Pareto-best.</a:t>
            </a:r>
            <a:endParaRPr lang="en-US" sz="1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1F2A44"/>
                </a:solidFill>
              </a:rPr>
              <a:t>vs. Expert on the frontier: up to 17% lower latency at equal anomaly budget; 23% lower anomaly at equal throughput.</a:t>
            </a:r>
            <a:endParaRPr lang="en-US" sz="1700" dirty="0"/>
          </a:p>
        </p:txBody>
      </p:sp>
      <p:sp>
        <p:nvSpPr>
          <p:cNvPr id="108" name="Shape 106"/>
          <p:cNvSpPr/>
          <p:nvPr/>
        </p:nvSpPr>
        <p:spPr>
          <a:xfrm>
            <a:off x="29535120" y="24048720"/>
            <a:ext cx="13441680" cy="7315200"/>
          </a:xfrm>
          <a:prstGeom prst="roundRect">
            <a:avLst>
              <a:gd name="adj" fmla="val 2750"/>
            </a:avLst>
          </a:prstGeom>
          <a:solidFill>
            <a:srgbClr val="1E2761"/>
          </a:solidFill>
          <a:ln w="15875">
            <a:solidFill>
              <a:srgbClr val="CFDAEC"/>
            </a:solidFill>
            <a:prstDash val="solid"/>
          </a:ln>
          <a:effectLst>
            <a:outerShdw sx="100000" sy="100000" kx="0" ky="0" algn="bl" rotWithShape="0" blurRad="177800" dist="63500" dir="5400000">
              <a:srgbClr val="1E2761">
                <a:alpha val="2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29992320" y="2427732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0" name="Text 108"/>
          <p:cNvSpPr/>
          <p:nvPr/>
        </p:nvSpPr>
        <p:spPr>
          <a:xfrm>
            <a:off x="29992320" y="2427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11" name="Text 109"/>
          <p:cNvSpPr/>
          <p:nvPr/>
        </p:nvSpPr>
        <p:spPr>
          <a:xfrm>
            <a:off x="31135320" y="24231600"/>
            <a:ext cx="1161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Study &amp; Takeaway</a:t>
            </a:r>
            <a:endParaRPr lang="en-US" sz="2700" dirty="0"/>
          </a:p>
        </p:txBody>
      </p:sp>
      <p:sp>
        <p:nvSpPr>
          <p:cNvPr id="112" name="Text 110"/>
          <p:cNvSpPr/>
          <p:nvPr/>
        </p:nvSpPr>
        <p:spPr>
          <a:xfrm>
            <a:off x="30083760" y="25511760"/>
            <a:ext cx="123444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CADCFC"/>
                </a:solidFill>
              </a:rPr>
              <a:t>N=32 SRE/DevOps, within-subjects, approved IRB, no PII.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</a:rPr>
              <a:t>−28% decision time vs. BO/RL (p&lt;0.01);  −24% cognitive load (NASA-TLX).  All p survive Holm–Bonferroni.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02C39A"/>
                </a:solidFill>
              </a:rPr>
              <a:t>Explainability + safety cut operator burden beyond raw performance — provenance-grounded rationale is decisive.</a:t>
            </a:r>
            <a:endParaRPr lang="en-US" sz="1700" dirty="0"/>
          </a:p>
        </p:txBody>
      </p:sp>
      <p:sp>
        <p:nvSpPr>
          <p:cNvPr id="113" name="Shape 111"/>
          <p:cNvSpPr/>
          <p:nvPr/>
        </p:nvSpPr>
        <p:spPr>
          <a:xfrm>
            <a:off x="914400" y="31775400"/>
            <a:ext cx="42062400" cy="868680"/>
          </a:xfrm>
          <a:prstGeom prst="roundRect">
            <a:avLst>
              <a:gd name="adj" fmla="val 12632"/>
            </a:avLst>
          </a:prstGeom>
          <a:solidFill>
            <a:srgbClr val="0F1733"/>
          </a:solidFill>
          <a:ln/>
        </p:spPr>
      </p:sp>
      <p:sp>
        <p:nvSpPr>
          <p:cNvPr id="114" name="Text 112"/>
          <p:cNvSpPr/>
          <p:nvPr/>
        </p:nvSpPr>
        <p:spPr>
          <a:xfrm>
            <a:off x="914400" y="31775400"/>
            <a:ext cx="4206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a seed-fixed offline harness regenerates every table, figure, and theory check (34/34 pass).      Geunsik Lim · leemgs@gmail.com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SemantOS Poster</dc:title>
  <dc:subject>PptxGenJS Presentation</dc:subject>
  <dc:creator>Geunsik Lim</dc:creator>
  <cp:lastModifiedBy>Geunsik Lim</cp:lastModifiedBy>
  <cp:revision>1</cp:revision>
  <dcterms:created xsi:type="dcterms:W3CDTF">2026-07-26T21:37:40Z</dcterms:created>
  <dcterms:modified xsi:type="dcterms:W3CDTF">2026-07-26T21:37:40Z</dcterms:modified>
</cp:coreProperties>
</file>