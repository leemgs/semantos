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AdaptiveKernel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44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Median 지연↓</c:v>
                  </c:pt>
                  <c:pt idx="1">
                    <c:v>P95 지연↓</c:v>
                  </c:pt>
                  <c:pt idx="2">
                    <c:v>이상률↓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12.5</c:v>
                </c:pt>
                <c:pt idx="1">
                  <c:v>15</c:v>
                </c:pt>
                <c:pt idx="2">
                  <c:v>18.5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OS-R1</c:v>
                </c:pt>
              </c:strCache>
            </c:strRef>
          </c:tx>
          <c:spPr>
            <a:solidFill>
              <a:srgbClr val="9AB0DE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44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Median 지연↓</c:v>
                  </c:pt>
                  <c:pt idx="1">
                    <c:v>P95 지연↓</c:v>
                  </c:pt>
                  <c:pt idx="2">
                    <c:v>이상률↓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15</c:v>
                </c:pt>
                <c:pt idx="1">
                  <c:v>17.5</c:v>
                </c:pt>
                <c:pt idx="2">
                  <c:v>21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BO/RL</c:v>
                </c:pt>
              </c:strCache>
            </c:strRef>
          </c:tx>
          <c:spPr>
            <a:solidFill>
              <a:srgbClr val="F4A261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44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Median 지연↓</c:v>
                  </c:pt>
                  <c:pt idx="1">
                    <c:v>P95 지연↓</c:v>
                  </c:pt>
                  <c:pt idx="2">
                    <c:v>이상률↓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18.5</c:v>
                </c:pt>
                <c:pt idx="1">
                  <c:v>21</c:v>
                </c:pt>
                <c:pt idx="2">
                  <c:v>23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SemantOS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44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Median 지연↓</c:v>
                  </c:pt>
                  <c:pt idx="1">
                    <c:v>P95 지연↓</c:v>
                  </c:pt>
                  <c:pt idx="2">
                    <c:v>이상률↓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23</c:v>
                </c:pt>
                <c:pt idx="1">
                  <c:v>28</c:v>
                </c:pt>
                <c:pt idx="2">
                  <c:v>31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F2A44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A44"/>
              </a:solidFill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이상률(%)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44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B0D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B0D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Full
(KB+RAG+Safety)</c:v>
                  </c:pt>
                  <c:pt idx="1">
                    <c:v>w/o Dep-Graph</c:v>
                  </c:pt>
                  <c:pt idx="2">
                    <c:v>w/o RAG</c:v>
                  </c:pt>
                  <c:pt idx="3">
                    <c:v>w/o Safety</c:v>
                  </c:pt>
                  <c:pt idx="4">
                    <c:v>KB only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2.4</c:v>
                </c:pt>
                <c:pt idx="1">
                  <c:v>4.1</c:v>
                </c:pt>
                <c:pt idx="2">
                  <c:v>3.6</c:v>
                </c:pt>
                <c:pt idx="3">
                  <c:v>4.9</c:v>
                </c:pt>
                <c:pt idx="4">
                  <c:v>7.1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F2A44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E2761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669280" cy="56692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291840" cy="3291840"/>
          </a:xfrm>
          <a:prstGeom prst="ellipse">
            <a:avLst/>
          </a:prstGeom>
          <a:solidFill>
            <a:srgbClr val="1620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77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AAAI-27 · 시스템 · 인공지능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SemantOS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시맨틱 추론과 가드레일 LLM 기반</a:t>
            </a:r>
            <a:endParaRPr lang="en-US" sz="2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안전하고 설명가능한 커널 튜닝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58368" y="3977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B2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Safe and Explainable Kernel Tuning via Semantic Reasoning and Guardrailed LLMs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" y="480060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16204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49377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58368" y="55321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테일 지연 P95 ↓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38728" y="480060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16204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8728" y="49377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538728" y="55321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 발생률 ↓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19088" y="480060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16204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9088" y="49377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85%+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419088" y="55321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운영자 개입 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" y="6309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296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Geunsik Lim  ·  leemgs@gmail.com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MOTIVATION · 배경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 튜닝은 왜 어려운가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리눅스 커널은 스케줄링·메모리·I/O·IRQ·NUMA에 걸쳐 수백 개의 상호의존적 파라미터를 노출한다. 작은 설정 오류도 지연 급증과 꼬리 지연 불안정을 유발한다.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2044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5603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25877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문맥 민감성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41248" y="324612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knob도 워크로드·단계마다 최적값이 달라진다. sched_latency_ns 축소는 web에서 P95 21% 개선하지만 mixed streaming에서 공정성 20% 저하.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270248" y="2286000"/>
            <a:ext cx="352044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44568" y="25603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4544568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138928" y="25877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강한 상호의존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62856" y="324612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파라미터는 독립적이지 않다. sched_wake_affinity와 sched_min_granularity_ns를 동시에 조정하면 테일 지연을 30% 이상 낮추는 비선형 시너지.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991856" y="2286000"/>
            <a:ext cx="352044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66176" y="25603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8266176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860536" y="25877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다목적 트레이드오프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84464" y="324612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지연을 낮추면 기아(starvation)가 늘고, 처리량을 높이면 공정성이 나빠진다. Pareto 최적 사이에서 명시적 선택이 필요하다.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SemantOS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GAP · 기존 접근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프로파일과 블랙박스 최적화의 한계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46504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프로파일 / 휴리스틱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297680" y="1746504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워크로드 드리프트에 취약, 단일 파라미터 중심으로 상호작용 무시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601200" y="1746504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✗ 적응 불가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3163824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 / RL 블랙박스 튜너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297680" y="3163824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수백 회 시행 필요, 정상성 가정, 해석 불가, 위험한 구성 탐색으로 시스템 회귀 유발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601200" y="3163824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✗ 안전 보장 없음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43484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EAF9F4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4434840"/>
            <a:ext cx="11064240" cy="1234440"/>
          </a:xfrm>
          <a:prstGeom prst="roundRect">
            <a:avLst>
              <a:gd name="adj" fmla="val 7407"/>
            </a:avLst>
          </a:prstGeom>
          <a:ln w="254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581144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SemantOS (제안)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297680" y="4581144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 기반 추론 + 보정된 불확실성 + conformal 안전 런타임으로 온라인 sysctl을 안전하게 조정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601200" y="4581144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안전·설명·적응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SemantOS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 IDEA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커널을 블랙박스가 아닌</a:t>
            </a:r>
            <a:endParaRPr lang="en-US" sz="3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시맨틱하게 근거화된 제어 루프로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58368" y="2743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관측(telemetry) → 지식 기반 추론(KB+LLM) → 보정된 불확실성 → 단계적·감사가능 배포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56616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16204A"/>
          </a:solidFill>
          <a:ln w="12700">
            <a:solidFill>
              <a:srgbClr val="2C3A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382219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3822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9536" y="4480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문맥 인지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59536" y="49377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eBPF 텔레메트리로 실시간 시스템 상태 관측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29000" y="356616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16204A"/>
          </a:solidFill>
          <a:ln w="12700">
            <a:solidFill>
              <a:srgbClr val="2C3A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85032" y="382219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3685032" y="3822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48456" y="4480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 중심 추론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48456" y="49377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typed 의존성 그래프에 근거한 공동 튜닝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17920" y="356616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16204A"/>
          </a:solidFill>
          <a:ln w="12700">
            <a:solidFill>
              <a:srgbClr val="2C3A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73952" y="382219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6473952" y="3822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37376" y="4480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강제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37376" y="49377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conformal τ 게이트 + 단계적 롤아웃/롤백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006840" y="356616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16204A"/>
          </a:solidFill>
          <a:ln w="12700">
            <a:solidFill>
              <a:srgbClr val="2C3A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62872" y="382219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9262872" y="3822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226296" y="4480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지속 적응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226296" y="49377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드리프트 감지와 재보정, KB 신선도 유지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ARCHITECTURE · 아키텍처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5개 컴포넌트로 닫힌 제어 루프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5895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00200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Telemetry Agent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657600" y="1600200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eBPF·유저스페이스 5초 주기 샘플링 (&lt;1% CPU)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 rot="5400000">
            <a:off x="3977640" y="2350008"/>
            <a:ext cx="457200" cy="146304"/>
          </a:xfrm>
          <a:prstGeom prst="chevron">
            <a:avLst/>
          </a:prstGeom>
          <a:solidFill>
            <a:srgbClr val="02C39A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496312"/>
            <a:ext cx="75895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496312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Knowledge Base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3657600" y="2496312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typed/signed 의존성 그래프 + FAISS 트레이스 (γ 감쇠)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 rot="5400000">
            <a:off x="3977640" y="3246120"/>
            <a:ext cx="457200" cy="146304"/>
          </a:xfrm>
          <a:prstGeom prst="chevron">
            <a:avLst/>
          </a:prstGeom>
          <a:solidFill>
            <a:srgbClr val="02C39A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392424"/>
            <a:ext cx="75895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392424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Reasoner (LLM)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657600" y="3392424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프롬프트 → knob·value·rationale·uncertainty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 rot="5400000">
            <a:off x="3977640" y="4142232"/>
            <a:ext cx="457200" cy="146304"/>
          </a:xfrm>
          <a:prstGeom prst="chevron">
            <a:avLst/>
          </a:prstGeom>
          <a:solidFill>
            <a:srgbClr val="02C39A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4288536"/>
            <a:ext cx="75895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4288536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Safety Runtime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3657600" y="4288536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conformal τ 게이트, canary→ramp→full, 자동 롤백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 rot="5400000">
            <a:off x="3977640" y="5038344"/>
            <a:ext cx="457200" cy="146304"/>
          </a:xfrm>
          <a:prstGeom prst="chevron">
            <a:avLst/>
          </a:prstGeom>
          <a:solidFill>
            <a:srgbClr val="02C39A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5184648"/>
            <a:ext cx="75895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5184648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Operator Console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3657600" y="5184648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설명·프로비넌스·롤백 제어를 운영자에게 제시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366760" y="1600200"/>
            <a:ext cx="3246120" cy="4251960"/>
          </a:xfrm>
          <a:prstGeom prst="roundRect">
            <a:avLst>
              <a:gd name="adj" fmla="val 2817"/>
            </a:avLst>
          </a:prstGeom>
          <a:solidFill>
            <a:srgbClr val="0F1733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595360" y="1783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닫힌 루프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95360" y="2240280"/>
            <a:ext cx="2834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FFFF"/>
                </a:solidFill>
              </a:rPr>
              <a:t>telemetry → recommendation → deployment → feedback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C"/>
                </a:solidFill>
              </a:rPr>
              <a:t>3개 핵심 JSON 엔드포인트가 루프를 닫는다: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/get_recommendations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/apply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/log_outcome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</a:rPr>
              <a:t>빠른 경로(≈94% 스냅샷)는 10ms 내, &lt;3% CPU로 결정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SemantOS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SEMANTIC KB · 지식 기반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typed 의존성 그래프에 근거한 공동 추론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40080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19656"/>
            <a:ext cx="2331720" cy="457200"/>
          </a:xfrm>
          <a:prstGeom prst="roundRect">
            <a:avLst>
              <a:gd name="adj" fmla="val 16000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1965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SYNERGIZES-WITH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37560" y="1600200"/>
            <a:ext cx="3474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바꾸면 초가산적 이득 — 반드시 공동 튜닝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640080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871216"/>
            <a:ext cx="2331720" cy="457200"/>
          </a:xfrm>
          <a:prstGeom prst="roundRect">
            <a:avLst>
              <a:gd name="adj" fmla="val 16000"/>
            </a:avLst>
          </a:prstGeom>
          <a:solidFill>
            <a:srgbClr val="F4A261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87121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CONFLICTS-WITH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560" y="2651760"/>
            <a:ext cx="3474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 변경 시 SLO 회귀 위험 — 상충 회피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640080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922776"/>
            <a:ext cx="233172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92277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DEPENDS-ON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3703320"/>
            <a:ext cx="3474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knob의 안전 범위가 다른 값에 조건부 — 순서 준수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178040" y="1600200"/>
            <a:ext cx="4434840" cy="3227832"/>
          </a:xfrm>
          <a:prstGeom prst="roundRect">
            <a:avLst>
              <a:gd name="adj" fmla="val 2833"/>
            </a:avLst>
          </a:prstGeom>
          <a:solidFill>
            <a:srgbClr val="0F1733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06640" y="17830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오프라인 유도 + 온라인 감쇠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406640" y="2240280"/>
            <a:ext cx="4023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FFFFFF"/>
                </a:solidFill>
              </a:rPr>
              <a:t>엣지는 pairwise 공동 튜닝 스윕에서 유도: 결합 효과가 단일 효과의 합에서 벗어난 정도(부트스트랩 유의)로 부호·가중치 결정.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</a:rPr>
              <a:t>가중치는 배포 텔레메트리로 γᵗ 감쇠·갱신 → 오래된 결합은 자연 소멸.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5029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추천은 특정 KB 엣지·트레이스로의 프로비넌스를 갖는다 — 왜 그렇게 튜닝했는지 감사 가능.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SemantOS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SAFETY RUNTIME · 안전 런타임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보정된 불확실성 게이트 + 단계적 롤아웃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05840" y="173736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143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84708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Canary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5% 트래픽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11880" y="2084832"/>
            <a:ext cx="411480" cy="411480"/>
          </a:xfrm>
          <a:prstGeom prst="chevron">
            <a:avLst/>
          </a:prstGeom>
          <a:solidFill>
            <a:srgbClr val="02C39A"/>
          </a:solidFill>
          <a:ln/>
        </p:spPr>
      </p:sp>
      <p:sp>
        <p:nvSpPr>
          <p:cNvPr id="8" name="Shape 6"/>
          <p:cNvSpPr/>
          <p:nvPr/>
        </p:nvSpPr>
        <p:spPr>
          <a:xfrm>
            <a:off x="4114800" y="173736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14300" dist="38100" dir="5400000">
              <a:srgbClr val="1E2761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0" y="184708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Ramp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114800" y="2331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25→50% 트래픽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720840" y="2084832"/>
            <a:ext cx="411480" cy="411480"/>
          </a:xfrm>
          <a:prstGeom prst="chevron">
            <a:avLst/>
          </a:prstGeom>
          <a:solidFill>
            <a:srgbClr val="02C39A"/>
          </a:solidFill>
          <a:ln/>
        </p:spPr>
      </p:sp>
      <p:sp>
        <p:nvSpPr>
          <p:cNvPr id="12" name="Shape 10"/>
          <p:cNvSpPr/>
          <p:nvPr/>
        </p:nvSpPr>
        <p:spPr>
          <a:xfrm>
            <a:off x="7223760" y="173736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14300" dist="38100" dir="5400000">
              <a:srgbClr val="1E2761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223760" y="184708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Full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223760" y="2331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 트래픽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971800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단계는 실시간 P95 SLO 가드로 감시 — 위반 시 즉시 자동 롤백하고 OptimizationTrace를 KB에 기록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04672" y="3840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conformal τ 게이트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4672" y="4315968"/>
            <a:ext cx="30358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보정 로그 D_cal에서 분할 conformal로 τ 산출: Pr[unsafe | u&lt;τ] ≤ α. u ≥ τ 이면 veto.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270248" y="36576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26280" y="3840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기반 τ 선택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26280" y="4315968"/>
            <a:ext cx="30358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C(τ)=c_FN·미탐 + c_FP·과탐 + λ·ΔSLO 최소화. 기본 τ=0.55 (정밀도/재현율 ≈0.86/0.88).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991856" y="36576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47888" y="3840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드리프트 재보정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47888" y="4315968"/>
            <a:ext cx="30358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ADWIN으로 드리프트 감지, 슬라이딩 윈도우 재보정으로 목표 커버리지 회복.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SemantOS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THEORY · 이론적 보장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기대비용 분해와 드리프트 커버리지 회복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28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 1 — 기대비용 분해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E[C] ≤ c_FN·π·α  +  c_FP·(1−π)·β_FP  +  λ·E[ΔSLO]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</a:rPr>
              <a:t>안전 위험 (c_FN·π·α): conformal 미탐률 α가 통제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</a:rPr>
              <a:t>효율 손실 (c_FP·(1−π)·β_FP): 불필요한 veto 비용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</a:rPr>
              <a:t>성능 저하 (λ·ΔSLO): 롤백 전 노출 구간 상한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5212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E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배포가 조정할 세 레버(α, β_FP, ΔSLO)를 명시한다.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645920"/>
            <a:ext cx="5303520" cy="4114800"/>
          </a:xfrm>
          <a:prstGeom prst="roundRect">
            <a:avLst>
              <a:gd name="adj" fmla="val 2222"/>
            </a:avLst>
          </a:prstGeom>
          <a:solidFill>
            <a:srgbClr val="0F1733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명제 1 — 재보정 커버리지 회복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242316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α′  ≤  α  +  1/(m+1)  +  ε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583680" y="320040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CADCFC"/>
                </a:solidFill>
              </a:rPr>
              <a:t>드리프트(총변동 거리 ≤ ε) 후 크기 m 슬라이딩 윈도우가 채워지면 실현 미탐율 α′ 이 위 상한을 만족.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</a:rPr>
              <a:t>ε→0 이면 α′ → α + 1/(m+1): 목표 커버리지가 유한표본 슬랙 내로 회복.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30일 드리프트 스터디에서 매 드리프트 후 커버리지 회복·롤백 정밀도 &gt;0.85 로 실증.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SemantOS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RESULTS · 평가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 워크로드 · 3개 서버 · 10회 반복 (95% CI)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74066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83880" y="1600200"/>
            <a:ext cx="34290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412480" y="1655064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23%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9601200" y="1655064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Median 지연 감소 (최대)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183880" y="2697480"/>
            <a:ext cx="34290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412480" y="2752344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9601200" y="2752344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P95 지연 감소 (최대)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183880" y="3794760"/>
            <a:ext cx="34290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412480" y="3849624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31%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9601200" y="3849624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이상률 감소 (최대)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183880" y="4892040"/>
            <a:ext cx="34290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412480" y="4946904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85–92%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9601200" y="4946904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운영자 튜닝 노력 감소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598932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† AdaptiveKernel·OS-R1 은 문헌 보고치(설정 상이) — 맥락용. BO/RL·Expert 만 동일 조건 재현.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SemantOS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ABLATION · 구성요소 분해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그래프·RAG는 성능을, 안전 런타임은 신뢰성을 견인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7665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1645920"/>
            <a:ext cx="4069080" cy="4114800"/>
          </a:xfrm>
          <a:prstGeom prst="roundRect">
            <a:avLst>
              <a:gd name="adj" fmla="val 2247"/>
            </a:avLst>
          </a:prstGeom>
          <a:solidFill>
            <a:srgbClr val="0F1733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0" y="18288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Pareto 우위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772400" y="2377440"/>
            <a:ext cx="3611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동일 이상 예산에서 지연 최대 17%↓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동일 처리량에서 이상률 23%↓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</a:rPr>
              <a:t>의존성 그래프 제거 시 지연 19.5→21.4ms, 이상 2.4→4.1% — 시너지 손실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</a:rPr>
              <a:t>안전 제거 시 이상률 4.9%로 급등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SemantOS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FACTORS · 사용자 연구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N=32 SRE/DevOps · within-subjects · 승인된 IRB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745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의사결정 시간 감소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(vs BO/RL, p&lt;0.01)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70248" y="169164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53128" y="18745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453128" y="274320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인지부하 감소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(NASA-TLX, vs BO/RL)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91856" y="169164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74736" y="18745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0.42–0.58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174736" y="274320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 유용성 우위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(Cliff's δ)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11064240" cy="1783080"/>
          </a:xfrm>
          <a:prstGeom prst="roundRect">
            <a:avLst>
              <a:gd name="adj" fmla="val 5128"/>
            </a:avLst>
          </a:prstGeom>
          <a:solidFill>
            <a:srgbClr val="0F1733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761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4160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시사점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452628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32명 실무자(경력 5–15년)가 사고 분류·구성 선택·근거 판단 3개 과제를 baseline / expert / BO·RL / SemantOS 4개 조건에서 수행. 모든 p-값은 Holm–Bonferroni 보정 통과. 참가자들은 증거 추적과 프로비넌스 검증 설명을 결정적 요인으로 지목 — 설명가능성과 안전 설계가 원시 성능 이상의 인지 부담 경감을 준다.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SemantOS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023360"/>
            <a:ext cx="5029200" cy="5029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SemantOS: 안전·설명·적응을 1급으로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10881360" cy="1051560"/>
          </a:xfrm>
          <a:prstGeom prst="roundRect">
            <a:avLst>
              <a:gd name="adj" fmla="val 7826"/>
            </a:avLst>
          </a:prstGeom>
          <a:solidFill>
            <a:srgbClr val="16204A"/>
          </a:solidFill>
          <a:ln w="12700">
            <a:solidFill>
              <a:srgbClr val="2C3A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350008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50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00200" y="216712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 근거화된 순차 결정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77840" y="2167128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typed 의존성 그래프 + RAG LLM 추론으로 프로비넌스를 가진 설명가능 액션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291840"/>
            <a:ext cx="10881360" cy="1051560"/>
          </a:xfrm>
          <a:prstGeom prst="roundRect">
            <a:avLst>
              <a:gd name="adj" fmla="val 7826"/>
            </a:avLst>
          </a:prstGeom>
          <a:solidFill>
            <a:srgbClr val="16204A"/>
          </a:solidFill>
          <a:ln w="12700">
            <a:solidFill>
              <a:srgbClr val="2C3A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584448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584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00200" y="340156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conformal 안전 런타임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77840" y="3401568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기대비용 분해(정리1)와 드리프트 커버리지 회복(명제1)을 갖춘 단계적 롤아웃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526280"/>
            <a:ext cx="10881360" cy="1051560"/>
          </a:xfrm>
          <a:prstGeom prst="roundRect">
            <a:avLst>
              <a:gd name="adj" fmla="val 7826"/>
            </a:avLst>
          </a:prstGeom>
          <a:solidFill>
            <a:srgbClr val="16204A"/>
          </a:solidFill>
          <a:ln w="12700">
            <a:solidFill>
              <a:srgbClr val="2C3A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818888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818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00200" y="463600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광범위한 실증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77840" y="4636008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워크로드·3 서버, Pareto 우위 지연/이상 트레이드오프, 32명 사용자 연구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296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재현: seed 고정 오프라인 하니스로 모든 표·그림·이론 검증을 재생성 (34/34 PASS).   Geunsik Lim · leemgs@gmail.com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SemantOS (Korean)</dc:title>
  <dc:subject>PptxGenJS Presentation</dc:subject>
  <dc:creator>Geunsik Lim</dc:creator>
  <cp:lastModifiedBy>Geunsik Lim</cp:lastModifiedBy>
  <cp:revision>1</cp:revision>
  <dcterms:created xsi:type="dcterms:W3CDTF">2026-07-26T13:50:30Z</dcterms:created>
  <dcterms:modified xsi:type="dcterms:W3CDTF">2026-07-26T13:50:30Z</dcterms:modified>
</cp:coreProperties>
</file>